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D4FF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0D4FF"/>
                </a:solidFill>
                <a:latin typeface="Arial"/>
              </a:rPr>
              <a:t>Protocol Latency (ms)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MQTT</c:v>
                </c:pt>
              </c:strCache>
            </c:strRef>
          </c:tx>
          <c:spPr>
            <a:ln w="25400" cap="flat">
              <a:solidFill>
                <a:srgbClr val="00FF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FF88"/>
              </a:solidFill>
              <a:ln w="9525" cap="flat">
                <a:solidFill>
                  <a:srgbClr val="00FF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15</c:v>
                </c:pt>
                <c:pt idx="2">
                  <c:v>14</c:v>
                </c:pt>
                <c:pt idx="3">
                  <c:v>18</c:v>
                </c:pt>
                <c:pt idx="4">
                  <c:v>13</c:v>
                </c:pt>
                <c:pt idx="5">
                  <c:v>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1FE-354A-95C2-2BBDB82D16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OPC UA</c:v>
                </c:pt>
              </c:strCache>
            </c:strRef>
          </c:tx>
          <c:spPr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32</c:v>
                </c:pt>
                <c:pt idx="2">
                  <c:v>30</c:v>
                </c:pt>
                <c:pt idx="3">
                  <c:v>35</c:v>
                </c:pt>
                <c:pt idx="4">
                  <c:v>29</c:v>
                </c:pt>
                <c:pt idx="5">
                  <c:v>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1FE-354A-95C2-2BBDB82D16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DDS</c:v>
                </c:pt>
              </c:strCache>
            </c:strRef>
          </c:tx>
          <c:spPr>
            <a:ln w="25400" cap="flat">
              <a:solidFill>
                <a:srgbClr val="9B59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59FF"/>
              </a:solidFill>
              <a:ln w="9525" cap="flat">
                <a:solidFill>
                  <a:srgbClr val="9B59F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7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1FE-354A-95C2-2BBDB82D1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B800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FFB800"/>
                </a:solidFill>
                <a:latin typeface="Arial"/>
              </a:rPr>
              <a:t>Throughput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(msg/s)</c:v>
                </c:pt>
              </c:strCache>
            </c:strRef>
          </c:tx>
          <c:spPr>
            <a:solidFill>
              <a:srgbClr val="00FF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50-D44D-BF2E-CE5DC90C26F2}"/>
              </c:ext>
            </c:extLst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50-D44D-BF2E-CE5DC90C26F2}"/>
              </c:ext>
            </c:extLst>
          </c:dPt>
          <c:dPt>
            <c:idx val="2"/>
            <c:invertIfNegative val="0"/>
            <c:bubble3D val="0"/>
            <c:spPr>
              <a:solidFill>
                <a:srgbClr val="9B5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50-D44D-BF2E-CE5DC90C26F2}"/>
              </c:ext>
            </c:extLst>
          </c:dPt>
          <c:dPt>
            <c:idx val="3"/>
            <c:invertIfNegative val="0"/>
            <c:bubble3D val="0"/>
            <c:spPr>
              <a:solidFill>
                <a:srgbClr val="FFB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50-D44D-BF2E-CE5DC90C26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MQTT</c:v>
                </c:pt>
                <c:pt idx="1">
                  <c:v>OPC UA</c:v>
                </c:pt>
                <c:pt idx="2">
                  <c:v>DDS</c:v>
                </c:pt>
                <c:pt idx="3">
                  <c:v>VDA 5050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980</c:v>
                </c:pt>
                <c:pt idx="1">
                  <c:v>420</c:v>
                </c:pt>
                <c:pt idx="2">
                  <c:v>4800</c:v>
                </c:pt>
                <c:pt idx="3">
                  <c:v>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50-D44D-BF2E-CE5DC90C26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67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TU_Bottom_Line"/>
          <p:cNvSpPr>
            <a:spLocks noGrp="1"/>
          </p:cNvSpPr>
          <p:nvPr/>
        </p:nvSpPr>
        <p:spPr>
          <a:xfrm>
            <a:off x="60960" y="4649564"/>
            <a:ext cx="9144000" cy="254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57200" y="199978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CYBERSECURITY-AWARE COMMUNICATION FRAMEWORK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65760" y="2439631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OCC – Autonomous Vehicle Integration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282696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MQTT · OPC UA · DDS Security · VDA 5050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3AF43-F65E-D475-D435-2CD3FFD3A512}"/>
              </a:ext>
            </a:extLst>
          </p:cNvPr>
          <p:cNvSpPr txBox="1"/>
          <p:nvPr/>
        </p:nvSpPr>
        <p:spPr>
          <a:xfrm>
            <a:off x="3614058" y="3194261"/>
            <a:ext cx="2281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Moulikha Mahendran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77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Motivation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Why this framework is needed in Industry 4.0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ea typeface="Calibri" pitchFamily="34" charset="-122"/>
                <a:cs typeface="Calibri" pitchFamily="34" charset="-120"/>
              </a:rPr>
              <a:t>IDENTIFIED RESEARCH GAPS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48132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4712" y="14538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Industrial protocols (MQTT, OPC UA, DDS) are evaluated in isolation — no unified OCC cybersecurity middleware framework exists.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3113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4712" y="22037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Limited research integrates multi-protocol cybersecurity evaluation for autonomous industrial vehicle ecosystems.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80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4712" y="29535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No studies combine real-time KPI-based threat analysis with OCC communication middleware for AMR/AGV fleets.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3075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3703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VDA 5050 cybersecurity implications in autonomous fleet management remain unexplored in literature.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536192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199632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Unified middleware framework bridging AMR/AGV to OCC</a:t>
            </a:r>
            <a:endParaRPr lang="en-US" sz="11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327294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99632" y="2258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Multi-protocol comparative analysis under cyber threats</a:t>
            </a:r>
            <a:endParaRPr lang="en-US" sz="11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303580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199632" y="30083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Real-time KPI evaluation with attack impact metrics</a:t>
            </a:r>
            <a:endParaRPr lang="en-US" sz="11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3785616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199632" y="37581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Attack simulation across 8 realistic cyber scenarios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80060" y="4215676"/>
            <a:ext cx="1920240" cy="384048"/>
          </a:xfrm>
          <a:prstGeom prst="rect">
            <a:avLst/>
          </a:prstGeom>
          <a:solidFill>
            <a:srgbClr val="EBF5F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8" name="Text 32"/>
          <p:cNvSpPr/>
          <p:nvPr/>
        </p:nvSpPr>
        <p:spPr>
          <a:xfrm>
            <a:off x="457200" y="42248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188720" y="4233964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Raspberry Pi Nodes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2606040" y="4215676"/>
            <a:ext cx="1920240" cy="384048"/>
          </a:xfrm>
          <a:prstGeom prst="rect">
            <a:avLst/>
          </a:prstGeom>
          <a:solidFill>
            <a:srgbClr val="EBF5F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2606040" y="42248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3337560" y="4233964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Protocols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754880" y="4217710"/>
            <a:ext cx="1920240" cy="384048"/>
          </a:xfrm>
          <a:prstGeom prst="rect">
            <a:avLst/>
          </a:prstGeom>
          <a:solidFill>
            <a:srgbClr val="EBF5F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4754880" y="4226854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8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486400" y="423599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Attack Scenarios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903720" y="4217710"/>
            <a:ext cx="1920240" cy="384048"/>
          </a:xfrm>
          <a:prstGeom prst="rect">
            <a:avLst/>
          </a:prstGeom>
          <a:solidFill>
            <a:srgbClr val="EBF5F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7" name="Text 41"/>
          <p:cNvSpPr/>
          <p:nvPr/>
        </p:nvSpPr>
        <p:spPr>
          <a:xfrm>
            <a:off x="6903720" y="4226854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10+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635240" y="423599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KPI Metrics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77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Layered System Architecture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" y="92723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4-layer cybersecurity-aware OCC integration framework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57200" y="1352432"/>
            <a:ext cx="8229600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57200" y="1352432"/>
            <a:ext cx="73152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21792" y="1389008"/>
            <a:ext cx="795528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ea typeface="Calibri" pitchFamily="34" charset="-122"/>
                <a:cs typeface="Calibri" pitchFamily="34" charset="-120"/>
              </a:rPr>
              <a:t>LAYER 1 · AUTONOMOUS VEHICLE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645040"/>
            <a:ext cx="795528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3× Raspberry Pi  |  Synthetic Telemetry  |  AGV/AMR Simulation  |  KPI Generation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193680"/>
            <a:ext cx="8284464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2221112"/>
            <a:ext cx="8229600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221112"/>
            <a:ext cx="73152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21792" y="2257688"/>
            <a:ext cx="795528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ea typeface="Calibri" pitchFamily="34" charset="-122"/>
                <a:cs typeface="Calibri" pitchFamily="34" charset="-120"/>
              </a:rPr>
              <a:t>LAYER 2 · COMMUNICATION PROTOCOL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2513720"/>
            <a:ext cx="795528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MQTT/TLS  ·  OPC UA  ·  DDS Security  ·  VDA 5050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062360"/>
            <a:ext cx="8284464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3089792"/>
            <a:ext cx="8229600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3089792"/>
            <a:ext cx="73152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21792" y="3126368"/>
            <a:ext cx="795528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LAYER 3 · CYBERSECURITY MIDDLEWARE (CORE)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382400"/>
            <a:ext cx="795528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Threat Detection  ·  Protocol Handler  ·  KPI Engine  ·  Traffic Monitor  ·  Security Decision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3931040"/>
            <a:ext cx="8284464" cy="713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3958472"/>
            <a:ext cx="8229600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57200" y="3958472"/>
            <a:ext cx="73152" cy="658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21792" y="3995048"/>
            <a:ext cx="795528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LAYER 4 · OCC DASHBOARD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251080"/>
            <a:ext cx="795528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Vehicle Monitor  ·  Attack Alerts  ·  Protocol KPI Graphs  ·  Anomaly Warnings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 sz="1100"/>
          </a:p>
        </p:txBody>
      </p:sp>
      <p:sp>
        <p:nvSpPr>
          <p:cNvPr id="4" name="Text 2"/>
          <p:cNvSpPr/>
          <p:nvPr/>
        </p:nvSpPr>
        <p:spPr>
          <a:xfrm>
            <a:off x="338328" y="936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Cybersecurity Middleware Framework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080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Internal module architecture the core research contribution</a:t>
            </a:r>
            <a:endParaRPr lang="en-US" sz="1200" b="1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50E1A"/>
                </a:solidFill>
              </a:rPr>
              <a:t>INPUT &amp; ROUTING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1234440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96112" y="1353312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Data Receiver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" y="1609344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Multi-vehicle, multi-protocol ingestion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" y="1591056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338328" y="2404872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365760" y="2432304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Text 14"/>
          <p:cNvSpPr/>
          <p:nvPr/>
        </p:nvSpPr>
        <p:spPr>
          <a:xfrm>
            <a:off x="896112" y="2523744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Protocol Handler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6112" y="2779776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MQTT / OPC UA / DDS / VDA 5050 parsing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96112" y="2761488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1" name="Shape 17"/>
          <p:cNvSpPr/>
          <p:nvPr/>
        </p:nvSpPr>
        <p:spPr>
          <a:xfrm>
            <a:off x="338328" y="3575304"/>
            <a:ext cx="2843784" cy="87477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2" name="Shape 18"/>
          <p:cNvSpPr/>
          <p:nvPr/>
        </p:nvSpPr>
        <p:spPr>
          <a:xfrm>
            <a:off x="365760" y="3602736"/>
            <a:ext cx="2788920" cy="75978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4" name="Text 19"/>
          <p:cNvSpPr/>
          <p:nvPr/>
        </p:nvSpPr>
        <p:spPr>
          <a:xfrm>
            <a:off x="896112" y="3694176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96112" y="3950208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Schema, range &amp; integrity checks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96112" y="3931920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7" name="Shape 22"/>
          <p:cNvSpPr/>
          <p:nvPr/>
        </p:nvSpPr>
        <p:spPr>
          <a:xfrm>
            <a:off x="329184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329184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50E1A"/>
                </a:solidFill>
              </a:rPr>
              <a:t>SECURITY CORE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264408" y="1234440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0" name="Shape 25"/>
          <p:cNvSpPr/>
          <p:nvPr/>
        </p:nvSpPr>
        <p:spPr>
          <a:xfrm>
            <a:off x="3291840" y="1261872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2" name="Text 26"/>
          <p:cNvSpPr/>
          <p:nvPr/>
        </p:nvSpPr>
        <p:spPr>
          <a:xfrm>
            <a:off x="3822192" y="1353312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Threat Detection Engine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822192" y="1609344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ML + rule-based anomaly detection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822192" y="1591056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5" name="Shape 29"/>
          <p:cNvSpPr/>
          <p:nvPr/>
        </p:nvSpPr>
        <p:spPr>
          <a:xfrm>
            <a:off x="3264408" y="2404872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6" name="Shape 30"/>
          <p:cNvSpPr/>
          <p:nvPr/>
        </p:nvSpPr>
        <p:spPr>
          <a:xfrm>
            <a:off x="3291840" y="2432304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8" name="Text 31"/>
          <p:cNvSpPr/>
          <p:nvPr/>
        </p:nvSpPr>
        <p:spPr>
          <a:xfrm>
            <a:off x="3822192" y="2523744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Traffic Monitoring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822192" y="2779776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Real-time packet &amp; flow analysis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3822192" y="2761488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1" name="Shape 34"/>
          <p:cNvSpPr/>
          <p:nvPr/>
        </p:nvSpPr>
        <p:spPr>
          <a:xfrm>
            <a:off x="3264408" y="3575304"/>
            <a:ext cx="2843784" cy="87477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2" name="Shape 35"/>
          <p:cNvSpPr/>
          <p:nvPr/>
        </p:nvSpPr>
        <p:spPr>
          <a:xfrm>
            <a:off x="3291840" y="3602736"/>
            <a:ext cx="2788920" cy="67208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4" name="Text 36"/>
          <p:cNvSpPr/>
          <p:nvPr/>
        </p:nvSpPr>
        <p:spPr>
          <a:xfrm>
            <a:off x="3822192" y="3694176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Attack Analysis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3822192" y="3950208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Attack fingerprinting &amp; classification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3822192" y="3931920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7" name="Shape 39"/>
          <p:cNvSpPr/>
          <p:nvPr/>
        </p:nvSpPr>
        <p:spPr>
          <a:xfrm>
            <a:off x="621792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8" name="Text 40"/>
          <p:cNvSpPr/>
          <p:nvPr/>
        </p:nvSpPr>
        <p:spPr>
          <a:xfrm>
            <a:off x="6217920" y="868680"/>
            <a:ext cx="2788920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50E1A"/>
                </a:solidFill>
              </a:rPr>
              <a:t>OUTPUT &amp; CONTROL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6190488" y="1234440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0" name="Shape 42"/>
          <p:cNvSpPr/>
          <p:nvPr/>
        </p:nvSpPr>
        <p:spPr>
          <a:xfrm>
            <a:off x="6217920" y="1261872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2" name="Text 43"/>
          <p:cNvSpPr/>
          <p:nvPr/>
        </p:nvSpPr>
        <p:spPr>
          <a:xfrm>
            <a:off x="6748272" y="1353312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Security Decision Layer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6748272" y="1609344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Block / alert / quarantine logic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6748272" y="1591056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5" name="Shape 46"/>
          <p:cNvSpPr/>
          <p:nvPr/>
        </p:nvSpPr>
        <p:spPr>
          <a:xfrm>
            <a:off x="6190488" y="2404872"/>
            <a:ext cx="2843784" cy="106070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6" name="Shape 47"/>
          <p:cNvSpPr/>
          <p:nvPr/>
        </p:nvSpPr>
        <p:spPr>
          <a:xfrm>
            <a:off x="6217920" y="2432304"/>
            <a:ext cx="2788920" cy="10058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8" name="Text 48"/>
          <p:cNvSpPr/>
          <p:nvPr/>
        </p:nvSpPr>
        <p:spPr>
          <a:xfrm>
            <a:off x="6748272" y="2523744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KPI Measurement</a:t>
            </a:r>
            <a:endParaRPr lang="en-US" sz="1100" dirty="0"/>
          </a:p>
        </p:txBody>
      </p:sp>
      <p:sp>
        <p:nvSpPr>
          <p:cNvPr id="59" name="Text 49"/>
          <p:cNvSpPr/>
          <p:nvPr/>
        </p:nvSpPr>
        <p:spPr>
          <a:xfrm>
            <a:off x="6748272" y="2779776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Latency, throughput, jitter, loss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6748272" y="2761488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1" name="Shape 51"/>
          <p:cNvSpPr/>
          <p:nvPr/>
        </p:nvSpPr>
        <p:spPr>
          <a:xfrm>
            <a:off x="6190488" y="3575304"/>
            <a:ext cx="2843784" cy="87477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2" name="Shape 52"/>
          <p:cNvSpPr/>
          <p:nvPr/>
        </p:nvSpPr>
        <p:spPr>
          <a:xfrm>
            <a:off x="6217920" y="3602736"/>
            <a:ext cx="2788920" cy="75978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4" name="Text 53"/>
          <p:cNvSpPr/>
          <p:nvPr/>
        </p:nvSpPr>
        <p:spPr>
          <a:xfrm>
            <a:off x="6748272" y="3694176"/>
            <a:ext cx="2148840" cy="25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Data Forwarding</a:t>
            </a:r>
            <a:endParaRPr lang="en-US" sz="1100" dirty="0"/>
          </a:p>
        </p:txBody>
      </p:sp>
      <p:sp>
        <p:nvSpPr>
          <p:cNvPr id="65" name="Text 54"/>
          <p:cNvSpPr/>
          <p:nvPr/>
        </p:nvSpPr>
        <p:spPr>
          <a:xfrm>
            <a:off x="6748272" y="3950208"/>
            <a:ext cx="2148840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Verified telemetry → OCC dashboard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6748272" y="3931920"/>
            <a:ext cx="137160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7" name="Shape 56"/>
          <p:cNvSpPr/>
          <p:nvPr/>
        </p:nvSpPr>
        <p:spPr>
          <a:xfrm>
            <a:off x="3154680" y="2286000"/>
            <a:ext cx="18288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8" name="Shape 57"/>
          <p:cNvSpPr/>
          <p:nvPr/>
        </p:nvSpPr>
        <p:spPr>
          <a:xfrm>
            <a:off x="6080760" y="2286000"/>
            <a:ext cx="182880" cy="13716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9" name="Shape 58"/>
          <p:cNvSpPr/>
          <p:nvPr/>
        </p:nvSpPr>
        <p:spPr>
          <a:xfrm>
            <a:off x="338328" y="4553712"/>
            <a:ext cx="8668512" cy="424364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Middleware processes all incoming vehicle data before OCC visibility  ·  No unvalidated traffic reaches the dashboard  ·  Attack classification runs in &lt; 50ms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7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 Comparative Analysis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6616"/>
            <a:ext cx="822960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MQTT · OPC UA · DDS Security · VDA 5050  evaluated under cybersecurity lens</a:t>
            </a:r>
            <a:endParaRPr lang="en-US" sz="1100" b="1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2011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2011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2423160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MQTT / TLS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6512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096512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OPC UA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760720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DDS 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24928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24928" y="987552"/>
            <a:ext cx="164592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A"/>
                </a:solidFill>
              </a:rPr>
              <a:t>VDA 5050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335024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11480" y="1335024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Real-Time Capability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133502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468880" y="133502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96512" y="133502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142232" y="133502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33502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806440" y="133502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24928" y="133502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0648" y="133502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1755648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11480" y="1755648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Cybersecurity Strength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23160" y="175564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2468880" y="175564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96512" y="175564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142232" y="175564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75564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806440" y="175564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24928" y="175564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70648" y="175564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176272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411480" y="2176272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OCC Compatibility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23160" y="217627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2468880" y="217627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96512" y="217627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4142232" y="217627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217627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5806440" y="217627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24928" y="217627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70648" y="217627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2596896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11480" y="2596896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23160" y="2596896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2468880" y="2596896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96512" y="2596896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4142232" y="2596896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60720" y="2596896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5806440" y="2596896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24928" y="2596896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70648" y="2596896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3017520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411480" y="3017520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Industrial Suitability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23160" y="3017520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0" name="Text 58"/>
          <p:cNvSpPr/>
          <p:nvPr/>
        </p:nvSpPr>
        <p:spPr>
          <a:xfrm>
            <a:off x="2468880" y="3017520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096512" y="3017520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4142232" y="3017520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760720" y="3017520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4" name="Text 62"/>
          <p:cNvSpPr/>
          <p:nvPr/>
        </p:nvSpPr>
        <p:spPr>
          <a:xfrm>
            <a:off x="5806440" y="3017520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24928" y="3017520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70648" y="3017520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3438144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8" name="Text 66"/>
          <p:cNvSpPr/>
          <p:nvPr/>
        </p:nvSpPr>
        <p:spPr>
          <a:xfrm>
            <a:off x="411480" y="3438144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Protocol Overhead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423160" y="343814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0" name="Text 68"/>
          <p:cNvSpPr/>
          <p:nvPr/>
        </p:nvSpPr>
        <p:spPr>
          <a:xfrm>
            <a:off x="2468880" y="343814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Low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096512" y="343814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4142232" y="343814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Medium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60720" y="343814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4" name="Text 72"/>
          <p:cNvSpPr/>
          <p:nvPr/>
        </p:nvSpPr>
        <p:spPr>
          <a:xfrm>
            <a:off x="5806440" y="343814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Medium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424928" y="3438144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470648" y="3438144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Low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65760" y="3858768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411480" y="3858768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Encryption Native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423160" y="385876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0" name="Text 78"/>
          <p:cNvSpPr/>
          <p:nvPr/>
        </p:nvSpPr>
        <p:spPr>
          <a:xfrm>
            <a:off x="2468880" y="385876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TLS (ext.)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096512" y="385876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2" name="Text 80"/>
          <p:cNvSpPr/>
          <p:nvPr/>
        </p:nvSpPr>
        <p:spPr>
          <a:xfrm>
            <a:off x="4142232" y="385876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Native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760720" y="385876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4" name="Text 82"/>
          <p:cNvSpPr/>
          <p:nvPr/>
        </p:nvSpPr>
        <p:spPr>
          <a:xfrm>
            <a:off x="5806440" y="385876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Native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424928" y="3858768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470648" y="3858768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Optional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65760" y="4279392"/>
            <a:ext cx="20116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8" name="Text 86"/>
          <p:cNvSpPr/>
          <p:nvPr/>
        </p:nvSpPr>
        <p:spPr>
          <a:xfrm>
            <a:off x="411480" y="4279392"/>
            <a:ext cx="192024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423160" y="427939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0" name="Text 88"/>
          <p:cNvSpPr/>
          <p:nvPr/>
        </p:nvSpPr>
        <p:spPr>
          <a:xfrm>
            <a:off x="2468880" y="427939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Token/TLS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096512" y="427939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2" name="Text 90"/>
          <p:cNvSpPr/>
          <p:nvPr/>
        </p:nvSpPr>
        <p:spPr>
          <a:xfrm>
            <a:off x="4142232" y="427939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X.509 PKI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760720" y="427939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4" name="Text 92"/>
          <p:cNvSpPr/>
          <p:nvPr/>
        </p:nvSpPr>
        <p:spPr>
          <a:xfrm>
            <a:off x="5806440" y="427939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DDS Auth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424928" y="4279392"/>
            <a:ext cx="164592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470648" y="4279392"/>
            <a:ext cx="1554480" cy="384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Role-based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548640" y="4752564"/>
            <a:ext cx="8138160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ea typeface="Calibri" pitchFamily="34" charset="-122"/>
                <a:cs typeface="Calibri" pitchFamily="34" charset="-120"/>
              </a:rPr>
              <a:t>KEY INSIGHT: DDS Security provides the strongest real-time + security combination. OPC UA excels in PKI integration. MQTT suits lightweight fleet communication. VDA 5050 is the AGV industry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6240" y="591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Protocol-Specific Data Flow Architecture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0" y="7765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End-to-end communication pathways for each protocol</a:t>
            </a:r>
            <a:endParaRPr lang="en-US" sz="1200" b="1" dirty="0"/>
          </a:p>
        </p:txBody>
      </p:sp>
      <p:sp>
        <p:nvSpPr>
          <p:cNvPr id="7" name="Shape 5"/>
          <p:cNvSpPr/>
          <p:nvPr/>
        </p:nvSpPr>
        <p:spPr>
          <a:xfrm>
            <a:off x="304800" y="1477008"/>
            <a:ext cx="1188720" cy="5669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04800" y="1477409"/>
            <a:ext cx="1188720" cy="5669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MQTT/TLS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7640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67640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Vehicle Node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2320" y="169686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55092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55092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MQTT Broker (Mosquitto)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96840" y="169686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42544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42544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Middleware Client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71360" y="169686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729996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7299960" y="147740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OCC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4800" y="236437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04800" y="236437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OPC UA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7640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167640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OPC UA Server (Pi)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22320" y="265698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355092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55092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Middleware UA Client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96840" y="265698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42544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42544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Security Filter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71360" y="265698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729996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7299960" y="243752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OCC Dashboard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4800" y="332449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04800" y="332449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DDS 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7640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167640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DDS Publisher (Pi)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22320" y="361710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355092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355092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DDS Subscriber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96840" y="361710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542544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542544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RT Middleware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71360" y="361710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729996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7299960" y="339764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OCC Dashboard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4800" y="428461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304800" y="4284617"/>
            <a:ext cx="1188720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VDA 5050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67640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67640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AGV Fleet Node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22320" y="457722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355092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355092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VDA 5050 Broker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196840" y="457722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4" name="Shape 52"/>
          <p:cNvSpPr/>
          <p:nvPr/>
        </p:nvSpPr>
        <p:spPr>
          <a:xfrm>
            <a:off x="542544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5" name="Text 53"/>
          <p:cNvSpPr/>
          <p:nvPr/>
        </p:nvSpPr>
        <p:spPr>
          <a:xfrm>
            <a:off x="542544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Middleware Engine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71360" y="4577225"/>
            <a:ext cx="219456" cy="182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729996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7299960" y="4357769"/>
            <a:ext cx="1645920" cy="475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OCC Dashboard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25440" y="1134217"/>
            <a:ext cx="164592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A1A1A"/>
                </a:solidFill>
              </a:rPr>
              <a:t>MIDDLEWARE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9318" y="9372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Attack Simulation Scenarios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38328" y="633222"/>
            <a:ext cx="8257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8 threat scenarios evaluated against the middleware framework</a:t>
            </a:r>
            <a:endParaRPr lang="en-US" sz="1050" b="1" dirty="0"/>
          </a:p>
        </p:txBody>
      </p:sp>
      <p:sp>
        <p:nvSpPr>
          <p:cNvPr id="7" name="Shape 5"/>
          <p:cNvSpPr/>
          <p:nvPr/>
        </p:nvSpPr>
        <p:spPr>
          <a:xfrm>
            <a:off x="338328" y="93268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78308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27101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DoS / Flooding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15819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" y="17373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Rate Limiter + Threshold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0391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1945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Latency ↑↑  Throughput ↓↓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87168" y="93268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2514600" y="96012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51460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51460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93192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Critical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127101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MITM Attack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87752" y="15819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87752" y="17373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TLS Certificate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87752" y="20391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87752" y="21945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Integrity ↓↓  Trust ↓↓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36008" y="93268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663440" y="96012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66344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08076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High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127101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Fake Vehicle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36592" y="15819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36592" y="17373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Auth Token + Fingerprint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20391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36592" y="21945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False Data Injection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84848" y="93268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6812280" y="96012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681228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812280" y="96012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8229600" y="96012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Medium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85432" y="127101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Packet Replay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85432" y="15819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85432" y="17373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Timestamp + Sequence Check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85432" y="203911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85432" y="219456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Jitter ↑  Duplicates ↑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38328" y="289864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365760" y="292608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3" name="Shape 51"/>
          <p:cNvSpPr/>
          <p:nvPr/>
        </p:nvSpPr>
        <p:spPr>
          <a:xfrm>
            <a:off x="36576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36576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78308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178308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Critical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" y="323697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Packet Tamper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8912" y="35478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438912" y="37033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Hash Validation / HMAC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38912" y="40050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38912" y="41605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Data Integrity ↓↓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487168" y="289864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3" name="Shape 61"/>
          <p:cNvSpPr/>
          <p:nvPr/>
        </p:nvSpPr>
        <p:spPr>
          <a:xfrm>
            <a:off x="2514600" y="292608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4" name="Shape 62"/>
          <p:cNvSpPr/>
          <p:nvPr/>
        </p:nvSpPr>
        <p:spPr>
          <a:xfrm>
            <a:off x="251460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251460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AS-06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93192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7" name="Text 65"/>
          <p:cNvSpPr/>
          <p:nvPr/>
        </p:nvSpPr>
        <p:spPr>
          <a:xfrm>
            <a:off x="393192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High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587752" y="323697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Network Pivot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587752" y="35478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2587752" y="37033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Lateral Traffic Monitor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587752" y="40050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587752" y="41605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Network Overhead ↑↑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636008" y="289864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4" name="Shape 72"/>
          <p:cNvSpPr/>
          <p:nvPr/>
        </p:nvSpPr>
        <p:spPr>
          <a:xfrm>
            <a:off x="4663440" y="292608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5" name="Shape 73"/>
          <p:cNvSpPr/>
          <p:nvPr/>
        </p:nvSpPr>
        <p:spPr>
          <a:xfrm>
            <a:off x="466344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6" name="Text 74"/>
          <p:cNvSpPr/>
          <p:nvPr/>
        </p:nvSpPr>
        <p:spPr>
          <a:xfrm>
            <a:off x="466344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AS-07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08076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608076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Low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736592" y="323697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Anomaly Traffic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736592" y="35478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1" name="Text 79"/>
          <p:cNvSpPr/>
          <p:nvPr/>
        </p:nvSpPr>
        <p:spPr>
          <a:xfrm>
            <a:off x="4736592" y="37033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ML Anomaly Classifier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736592" y="40050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736592" y="41605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Baseline Deviation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784848" y="2898648"/>
            <a:ext cx="2066544" cy="18379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5" name="Shape 83"/>
          <p:cNvSpPr/>
          <p:nvPr/>
        </p:nvSpPr>
        <p:spPr>
          <a:xfrm>
            <a:off x="6812280" y="2926080"/>
            <a:ext cx="2011680" cy="17830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6" name="Shape 84"/>
          <p:cNvSpPr/>
          <p:nvPr/>
        </p:nvSpPr>
        <p:spPr>
          <a:xfrm>
            <a:off x="681228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7" name="Text 85"/>
          <p:cNvSpPr/>
          <p:nvPr/>
        </p:nvSpPr>
        <p:spPr>
          <a:xfrm>
            <a:off x="6812280" y="2926080"/>
            <a:ext cx="54864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AS-08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22960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9" name="Text 87"/>
          <p:cNvSpPr/>
          <p:nvPr/>
        </p:nvSpPr>
        <p:spPr>
          <a:xfrm>
            <a:off x="8229600" y="2926080"/>
            <a:ext cx="59436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</a:rPr>
              <a:t>None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885432" y="3236976"/>
            <a:ext cx="187452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Normal Baseline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885432" y="35478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DETECTION: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2" name="Text 90"/>
          <p:cNvSpPr/>
          <p:nvPr/>
        </p:nvSpPr>
        <p:spPr>
          <a:xfrm>
            <a:off x="6885432" y="37033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N/A – reference only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6885432" y="4005072"/>
            <a:ext cx="1874520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KPI IMPACT: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885432" y="4160520"/>
            <a:ext cx="1874520" cy="256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All KPIs nominal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5760" y="4809744"/>
            <a:ext cx="841248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6" name="Text 94"/>
          <p:cNvSpPr/>
          <p:nvPr/>
        </p:nvSpPr>
        <p:spPr>
          <a:xfrm>
            <a:off x="457200" y="481888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All attack scenarios are reproducible on Raspberry Pi testbed  ·  Middleware logs detection timestamps and KPI deltas for each scenario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256032" y="12258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Evaluation Framework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62236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performance &amp; security metrics across all protocols and scenarios</a:t>
            </a:r>
            <a:endParaRPr lang="en-US" sz="1000" b="1" dirty="0"/>
          </a:p>
        </p:txBody>
      </p:sp>
      <p:sp>
        <p:nvSpPr>
          <p:cNvPr id="7" name="Shape 5"/>
          <p:cNvSpPr/>
          <p:nvPr/>
        </p:nvSpPr>
        <p:spPr>
          <a:xfrm>
            <a:off x="182880" y="975837"/>
            <a:ext cx="2151017" cy="274320"/>
          </a:xfrm>
          <a:prstGeom prst="rect">
            <a:avLst/>
          </a:prstGeom>
          <a:solidFill>
            <a:srgbClr val="445577">
              <a:alpha val="30000"/>
            </a:srgbClr>
          </a:solidFill>
          <a:ln w="12700">
            <a:solidFill>
              <a:srgbClr val="445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975837"/>
            <a:ext cx="2151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</a:rPr>
              <a:t>KPI Metric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MQTT/TLS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6908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6908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OPC UA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1500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9B5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940655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DDS Sec.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60920" y="933258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60920" y="933258"/>
            <a:ext cx="160020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VDA 5050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1277589"/>
            <a:ext cx="2151017" cy="402336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1277589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Latency (ms)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1242407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23160" y="124240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12–40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1242407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69080" y="124240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25–80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1242407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15000" y="124240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5–20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1235010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60920" y="123501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15–50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1716501"/>
            <a:ext cx="2151017" cy="402336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1716501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Throughput (msg/s)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1681319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23160" y="168131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1000+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1681319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69080" y="168131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200–500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15000" y="1681319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15000" y="168131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5000+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1673922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60920" y="167392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300–800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155413"/>
            <a:ext cx="2151017" cy="402336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" y="2155413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Packet Loss (%)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3160" y="2120231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23160" y="212023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0.1–2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69080" y="2120231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69080" y="212023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0.05–1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15000" y="2120231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15000" y="212023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&lt; 0.1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60920" y="2112834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60920" y="211283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0.2–3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2594325"/>
            <a:ext cx="2151017" cy="402336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032" y="2594325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Jitter (ms)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23160" y="2559143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423160" y="2559143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2–15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69080" y="2559143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069080" y="2559143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5–20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15000" y="2559143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15000" y="2559143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1–5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60920" y="2551746"/>
            <a:ext cx="1600200" cy="402336"/>
          </a:xfrm>
          <a:prstGeom prst="rect">
            <a:avLst/>
          </a:prstGeom>
          <a:solidFill>
            <a:srgbClr val="FF3355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60920" y="255174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5–25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2880" y="3033237"/>
            <a:ext cx="2151017" cy="402336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56032" y="3033237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Security Overhead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23160" y="2998055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423160" y="2998055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Low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069080" y="2998055"/>
            <a:ext cx="1600200" cy="402336"/>
          </a:xfrm>
          <a:prstGeom prst="rect">
            <a:avLst/>
          </a:prstGeom>
          <a:solidFill>
            <a:srgbClr val="FF3355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69080" y="2998055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High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15000" y="2998055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715000" y="2998055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Medium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60920" y="2990658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360920" y="299065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Low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82880" y="3472149"/>
            <a:ext cx="2151017" cy="402336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56032" y="3472149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Recovery Time (ms)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23160" y="3436967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423160" y="343696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50–200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69080" y="3436967"/>
            <a:ext cx="1600200" cy="402336"/>
          </a:xfrm>
          <a:prstGeom prst="rect">
            <a:avLst/>
          </a:prstGeom>
          <a:solidFill>
            <a:srgbClr val="FF3355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69080" y="343696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100–500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715000" y="3436967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715000" y="3436967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20–100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60920" y="3429570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360920" y="342957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80–300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82880" y="3911061"/>
            <a:ext cx="2151017" cy="402336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6032" y="3911061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Detection Accuracy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23160" y="3875879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423160" y="387587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88%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069080" y="3875879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069080" y="387587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95%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715000" y="3875879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715000" y="3875879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97%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360920" y="3868482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360920" y="386848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85%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82880" y="4349973"/>
            <a:ext cx="2151017" cy="402336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56032" y="4349973"/>
            <a:ext cx="20378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CPU Usage (%)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423160" y="4314791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423160" y="431479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15–30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069080" y="4314791"/>
            <a:ext cx="1600200" cy="402336"/>
          </a:xfrm>
          <a:prstGeom prst="rect">
            <a:avLst/>
          </a:prstGeom>
          <a:solidFill>
            <a:srgbClr val="FF3355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069080" y="431479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40–70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715000" y="4314791"/>
            <a:ext cx="1600200" cy="402336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715000" y="4314791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20–45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360920" y="4307394"/>
            <a:ext cx="1600200" cy="402336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360920" y="430739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18–35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82880" y="4752309"/>
            <a:ext cx="8412480" cy="237744"/>
          </a:xfrm>
          <a:prstGeom prst="rect">
            <a:avLst/>
          </a:prstGeom>
          <a:solidFill>
            <a:srgbClr val="F0F7F5"/>
          </a:solidFill>
          <a:ln w="12700">
            <a:solidFill>
              <a:srgbClr val="445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65760" y="477059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</a:rPr>
              <a:t>■ GOOD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2377440" y="477059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800"/>
                </a:solidFill>
              </a:rPr>
              <a:t>■ MODERATE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89120" y="477059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3355"/>
                </a:solidFill>
              </a:rPr>
              <a:t>■ POOR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400800" y="477059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5577"/>
                </a:solidFill>
              </a:rPr>
              <a:t>(Values shown: normal operation baseline)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16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Implementation Roadmap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6225" y="87169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research-to-deployment execution plan</a:t>
            </a:r>
            <a:endParaRPr lang="en-US" sz="1000" b="1" dirty="0"/>
          </a:p>
        </p:txBody>
      </p:sp>
      <p:sp>
        <p:nvSpPr>
          <p:cNvPr id="7" name="Shape 5"/>
          <p:cNvSpPr/>
          <p:nvPr/>
        </p:nvSpPr>
        <p:spPr>
          <a:xfrm>
            <a:off x="349649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49649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649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86225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Environment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9649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86225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Python 3.10+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9649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86225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Raspberry Pi 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649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86225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Mosquitto MQTT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9649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86225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OPC UA libs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649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86225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DDS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38369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1657241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1657241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57241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693817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Vehicle Simulation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57241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693817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AGV telemetry gen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57241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1693817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Speed / Position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57241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1693817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Battery modeling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57241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1693817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Task scheduler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57241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1693817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Timestamp sync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45961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2964833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2964833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64833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3001409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Protocol Impl.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64833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3001409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MQTT pub/sub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64833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3001409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OPC UA server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64833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3001409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DDS topics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64833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3001409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VDA 5050 msgs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64833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3001409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TLS certs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53553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4272425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4272425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72425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5" name="Text 53"/>
          <p:cNvSpPr/>
          <p:nvPr/>
        </p:nvSpPr>
        <p:spPr>
          <a:xfrm>
            <a:off x="4309001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Middleware Core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72425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4309001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Threat detection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72425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4309001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KPI measurement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72425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1" name="Text 59"/>
          <p:cNvSpPr/>
          <p:nvPr/>
        </p:nvSpPr>
        <p:spPr>
          <a:xfrm>
            <a:off x="4309001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Traffic monitor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72425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3" name="Text 61"/>
          <p:cNvSpPr/>
          <p:nvPr/>
        </p:nvSpPr>
        <p:spPr>
          <a:xfrm>
            <a:off x="4309001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Security layer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272425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4309001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Data forwarding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61145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7" name="Shape 65"/>
          <p:cNvSpPr/>
          <p:nvPr/>
        </p:nvSpPr>
        <p:spPr>
          <a:xfrm>
            <a:off x="5580017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68" name="Text 66"/>
          <p:cNvSpPr/>
          <p:nvPr/>
        </p:nvSpPr>
        <p:spPr>
          <a:xfrm>
            <a:off x="5580017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580017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0" name="Text 68"/>
          <p:cNvSpPr/>
          <p:nvPr/>
        </p:nvSpPr>
        <p:spPr>
          <a:xfrm>
            <a:off x="5616593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Attack Simul.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80017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5616593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DoS flooding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580017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4" name="Text 72"/>
          <p:cNvSpPr/>
          <p:nvPr/>
        </p:nvSpPr>
        <p:spPr>
          <a:xfrm>
            <a:off x="5616593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MITM scripts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580017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6" name="Text 74"/>
          <p:cNvSpPr/>
          <p:nvPr/>
        </p:nvSpPr>
        <p:spPr>
          <a:xfrm>
            <a:off x="5616593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Fake vehicle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580017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5616593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Replay attack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580017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0" name="Text 78"/>
          <p:cNvSpPr/>
          <p:nvPr/>
        </p:nvSpPr>
        <p:spPr>
          <a:xfrm>
            <a:off x="5616593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Packet tamper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768737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2" name="Shape 80"/>
          <p:cNvSpPr/>
          <p:nvPr/>
        </p:nvSpPr>
        <p:spPr>
          <a:xfrm>
            <a:off x="6887609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3" name="Text 81"/>
          <p:cNvSpPr/>
          <p:nvPr/>
        </p:nvSpPr>
        <p:spPr>
          <a:xfrm>
            <a:off x="6887609" y="1327990"/>
            <a:ext cx="118872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887609" y="1602310"/>
            <a:ext cx="118872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5" name="Text 83"/>
          <p:cNvSpPr/>
          <p:nvPr/>
        </p:nvSpPr>
        <p:spPr>
          <a:xfrm>
            <a:off x="6924185" y="1620598"/>
            <a:ext cx="111556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Dashboard UI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887609" y="2022934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7" name="Text 85"/>
          <p:cNvSpPr/>
          <p:nvPr/>
        </p:nvSpPr>
        <p:spPr>
          <a:xfrm>
            <a:off x="6924185" y="202293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React frontend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887609" y="2498422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9" name="Text 87"/>
          <p:cNvSpPr/>
          <p:nvPr/>
        </p:nvSpPr>
        <p:spPr>
          <a:xfrm>
            <a:off x="6924185" y="249842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Live KPI charts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887609" y="2973910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1" name="Text 89"/>
          <p:cNvSpPr/>
          <p:nvPr/>
        </p:nvSpPr>
        <p:spPr>
          <a:xfrm>
            <a:off x="6924185" y="297391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Attack alerts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887609" y="3449398"/>
            <a:ext cx="118872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3" name="Text 91"/>
          <p:cNvSpPr/>
          <p:nvPr/>
        </p:nvSpPr>
        <p:spPr>
          <a:xfrm>
            <a:off x="6924185" y="344939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Anomaly view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887609" y="3924886"/>
            <a:ext cx="118872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5" name="Text 93"/>
          <p:cNvSpPr/>
          <p:nvPr/>
        </p:nvSpPr>
        <p:spPr>
          <a:xfrm>
            <a:off x="6924185" y="392488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Protocol graphs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076329" y="1446862"/>
            <a:ext cx="54864" cy="1371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7" name="Shape 95"/>
          <p:cNvSpPr/>
          <p:nvPr/>
        </p:nvSpPr>
        <p:spPr>
          <a:xfrm>
            <a:off x="8195201" y="1327990"/>
            <a:ext cx="64008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8" name="Text 96"/>
          <p:cNvSpPr/>
          <p:nvPr/>
        </p:nvSpPr>
        <p:spPr>
          <a:xfrm>
            <a:off x="8195201" y="1327990"/>
            <a:ext cx="640080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PH 7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195201" y="1602310"/>
            <a:ext cx="640080" cy="3474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0" name="Text 98"/>
          <p:cNvSpPr/>
          <p:nvPr/>
        </p:nvSpPr>
        <p:spPr>
          <a:xfrm>
            <a:off x="8231777" y="1620598"/>
            <a:ext cx="566928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KPI Analysis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195201" y="2022934"/>
            <a:ext cx="640080" cy="420624"/>
          </a:xfrm>
          <a:prstGeom prst="rect">
            <a:avLst/>
          </a:prstGeom>
          <a:solidFill>
            <a:srgbClr val="F0F7F5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2" name="Text 100"/>
          <p:cNvSpPr/>
          <p:nvPr/>
        </p:nvSpPr>
        <p:spPr>
          <a:xfrm>
            <a:off x="8231777" y="202293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Stats analysis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8195201" y="2498422"/>
            <a:ext cx="640080" cy="420624"/>
          </a:xfrm>
          <a:prstGeom prst="rect">
            <a:avLst/>
          </a:prstGeom>
          <a:solidFill>
            <a:srgbClr val="EBF5F2"/>
          </a:solidFill>
          <a:ln w="12700">
            <a:solidFill>
              <a:srgbClr val="E8F4F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04" name="Text 102"/>
          <p:cNvSpPr/>
          <p:nvPr/>
        </p:nvSpPr>
        <p:spPr>
          <a:xfrm>
            <a:off x="8231777" y="249842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Report gen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29768" y="685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Dashboard Architecture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37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ea typeface="Calibri" pitchFamily="34" charset="-122"/>
                <a:cs typeface="Calibri" pitchFamily="34" charset="-120"/>
              </a:rPr>
              <a:t>Real-time operational control center visualization concept</a:t>
            </a:r>
            <a:endParaRPr lang="en-US" sz="1000" b="1" dirty="0"/>
          </a:p>
        </p:txBody>
      </p:sp>
      <p:sp>
        <p:nvSpPr>
          <p:cNvPr id="9" name="Text 7"/>
          <p:cNvSpPr/>
          <p:nvPr/>
        </p:nvSpPr>
        <p:spPr>
          <a:xfrm>
            <a:off x="457200" y="9875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/>
              <a:t>OCC CYBERSECURITY DASHBOARD  ◉ LIVE  |  Vehicles: 3  |  Threats: 0  |  Protocol: MQTT / OPC UA / DDS / VDA 5050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298448"/>
            <a:ext cx="182880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298448"/>
            <a:ext cx="173736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/>
              <a:t>AGV-001  ● ONLINE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Speed: 38 km/h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Batt: 85%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Pos: X12 Y8</a:t>
            </a:r>
          </a:p>
        </p:txBody>
      </p:sp>
      <p:sp>
        <p:nvSpPr>
          <p:cNvPr id="16" name="Text 14"/>
          <p:cNvSpPr/>
          <p:nvPr/>
        </p:nvSpPr>
        <p:spPr>
          <a:xfrm>
            <a:off x="137160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Task: ACTIVE</a:t>
            </a:r>
          </a:p>
        </p:txBody>
      </p:sp>
      <p:sp>
        <p:nvSpPr>
          <p:cNvPr id="18" name="Shape 16"/>
          <p:cNvSpPr/>
          <p:nvPr/>
        </p:nvSpPr>
        <p:spPr>
          <a:xfrm>
            <a:off x="2468880" y="1298448"/>
            <a:ext cx="182880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298448"/>
            <a:ext cx="173736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/>
              <a:t>AGV-002  ● ONLINE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Speed: 42 km/h</a:t>
            </a:r>
          </a:p>
        </p:txBody>
      </p:sp>
      <p:sp>
        <p:nvSpPr>
          <p:cNvPr id="21" name="Text 19"/>
          <p:cNvSpPr/>
          <p:nvPr/>
        </p:nvSpPr>
        <p:spPr>
          <a:xfrm>
            <a:off x="251460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Batt: 75%</a:t>
            </a:r>
          </a:p>
        </p:txBody>
      </p:sp>
      <p:sp>
        <p:nvSpPr>
          <p:cNvPr id="22" name="Text 20"/>
          <p:cNvSpPr/>
          <p:nvPr/>
        </p:nvSpPr>
        <p:spPr>
          <a:xfrm>
            <a:off x="338328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Pos: X13 Y9</a:t>
            </a:r>
          </a:p>
        </p:txBody>
      </p:sp>
      <p:sp>
        <p:nvSpPr>
          <p:cNvPr id="23" name="Text 21"/>
          <p:cNvSpPr/>
          <p:nvPr/>
        </p:nvSpPr>
        <p:spPr>
          <a:xfrm>
            <a:off x="338328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Task: ACTIVE</a:t>
            </a:r>
          </a:p>
        </p:txBody>
      </p:sp>
      <p:sp>
        <p:nvSpPr>
          <p:cNvPr id="25" name="Shape 23"/>
          <p:cNvSpPr/>
          <p:nvPr/>
        </p:nvSpPr>
        <p:spPr>
          <a:xfrm>
            <a:off x="4480560" y="1298448"/>
            <a:ext cx="182880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1298448"/>
            <a:ext cx="1737360" cy="1828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/>
              <a:t>AGV-003  ● ONLINE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Speed: 46 km/h</a:t>
            </a:r>
          </a:p>
        </p:txBody>
      </p:sp>
      <p:sp>
        <p:nvSpPr>
          <p:cNvPr id="28" name="Text 26"/>
          <p:cNvSpPr/>
          <p:nvPr/>
        </p:nvSpPr>
        <p:spPr>
          <a:xfrm>
            <a:off x="452628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Batt: 65%</a:t>
            </a:r>
          </a:p>
        </p:txBody>
      </p:sp>
      <p:sp>
        <p:nvSpPr>
          <p:cNvPr id="29" name="Text 27"/>
          <p:cNvSpPr/>
          <p:nvPr/>
        </p:nvSpPr>
        <p:spPr>
          <a:xfrm>
            <a:off x="5394960" y="14996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Pos: X14 Y10</a:t>
            </a:r>
          </a:p>
        </p:txBody>
      </p:sp>
      <p:sp>
        <p:nvSpPr>
          <p:cNvPr id="30" name="Text 28"/>
          <p:cNvSpPr/>
          <p:nvPr/>
        </p:nvSpPr>
        <p:spPr>
          <a:xfrm>
            <a:off x="5394960" y="16642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Task: ACTIVE</a:t>
            </a:r>
          </a:p>
        </p:txBody>
      </p:sp>
      <p:graphicFrame>
        <p:nvGraphicFramePr>
          <p:cNvPr id="31" name="Chart 0"/>
          <p:cNvGraphicFramePr/>
          <p:nvPr>
            <p:extLst>
              <p:ext uri="{D42A27DB-BD31-4B8C-83A1-F6EECF244321}">
                <p14:modId xmlns:p14="http://schemas.microsoft.com/office/powerpoint/2010/main" val="1529785793"/>
              </p:ext>
            </p:extLst>
          </p:nvPr>
        </p:nvGraphicFramePr>
        <p:xfrm>
          <a:off x="457200" y="2212848"/>
          <a:ext cx="41148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1"/>
          <p:cNvGraphicFramePr/>
          <p:nvPr>
            <p:extLst>
              <p:ext uri="{D42A27DB-BD31-4B8C-83A1-F6EECF244321}">
                <p14:modId xmlns:p14="http://schemas.microsoft.com/office/powerpoint/2010/main" val="3249393479"/>
              </p:ext>
            </p:extLst>
          </p:nvPr>
        </p:nvGraphicFramePr>
        <p:xfrm>
          <a:off x="4663440" y="2212848"/>
          <a:ext cx="402336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Text 30"/>
          <p:cNvSpPr/>
          <p:nvPr/>
        </p:nvSpPr>
        <p:spPr>
          <a:xfrm>
            <a:off x="566928" y="389534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■ SECURITY EVENT LOG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66928" y="4114800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/>
              <a:t>All clear — No active threats detected  ●  Last scan: 0.3ms ago  ●  Packets analyzed: 14,832  ●  Anomalies: 0</a:t>
            </a:r>
          </a:p>
        </p:txBody>
      </p:sp>
      <p:sp>
        <p:nvSpPr>
          <p:cNvPr id="36" name="Text 32"/>
          <p:cNvSpPr/>
          <p:nvPr/>
        </p:nvSpPr>
        <p:spPr>
          <a:xfrm>
            <a:off x="566928" y="4315968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Middleware status: ACTIVE  ●  Detection engine: RUNNING  ●  KPI engine: RUNNING  ●  All protocols: 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29768" y="77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Layer — Testbed Design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26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3× Raspberry Pi nodes simulating AGV/AMR behavior</a:t>
            </a:r>
            <a:endParaRPr lang="en-US" sz="1050" b="1" dirty="0"/>
          </a:p>
        </p:txBody>
      </p:sp>
      <p:sp>
        <p:nvSpPr>
          <p:cNvPr id="7" name="Shape 5"/>
          <p:cNvSpPr/>
          <p:nvPr/>
        </p:nvSpPr>
        <p:spPr>
          <a:xfrm>
            <a:off x="335280" y="1309343"/>
            <a:ext cx="2660904" cy="2556392"/>
          </a:xfrm>
          <a:prstGeom prst="rect">
            <a:avLst/>
          </a:prstGeom>
          <a:solidFill>
            <a:schemeClr val="bg1">
              <a:lumMod val="95000"/>
              <a:alpha val="8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490728" y="1552303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highlight>
                  <a:srgbClr val="C0C0C0"/>
                </a:highlight>
              </a:rPr>
              <a:t>AGV-001 (Pi #1)</a:t>
            </a:r>
            <a:endParaRPr lang="en-US" sz="1050" dirty="0">
              <a:highlight>
                <a:srgbClr val="C0C0C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527304" y="194549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Speed: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33144" y="194549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30 km/h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7304" y="2238103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Position: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533144" y="223810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X10 Y5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7304" y="253071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Battery: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33144" y="253071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90%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27304" y="2823319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Task: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533144" y="2823319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ACTIVE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7304" y="3115927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Net ID: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33144" y="3115927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N001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7304" y="340853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Protocol: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33144" y="340853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MQTT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24784" y="1309341"/>
            <a:ext cx="2660904" cy="2556393"/>
          </a:xfrm>
          <a:prstGeom prst="rect">
            <a:avLst/>
          </a:prstGeom>
          <a:solidFill>
            <a:schemeClr val="bg1">
              <a:lumMod val="95000"/>
              <a:alpha val="8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3"/>
          <p:cNvSpPr/>
          <p:nvPr/>
        </p:nvSpPr>
        <p:spPr>
          <a:xfrm>
            <a:off x="3325368" y="1552303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highlight>
                  <a:srgbClr val="C0C0C0"/>
                </a:highlight>
              </a:rPr>
              <a:t>AGV-002 (Pi #2)</a:t>
            </a:r>
            <a:endParaRPr lang="en-US" sz="1050" dirty="0">
              <a:highlight>
                <a:srgbClr val="C0C0C0"/>
              </a:highlight>
            </a:endParaRPr>
          </a:p>
        </p:txBody>
      </p:sp>
      <p:sp>
        <p:nvSpPr>
          <p:cNvPr id="29" name="Text 25"/>
          <p:cNvSpPr/>
          <p:nvPr/>
        </p:nvSpPr>
        <p:spPr>
          <a:xfrm>
            <a:off x="3361944" y="194549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Speed: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367784" y="194549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38 km/h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361944" y="2238103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Position: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367784" y="223810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X11 Y6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361944" y="253071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Battery: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367784" y="253071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82%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361944" y="2823319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Task: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367784" y="2823319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ACTIVE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361944" y="3115927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Net ID: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4367784" y="3115927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N002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3361944" y="340853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Protocol: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367784" y="340853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OPC UA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059424" y="1309341"/>
            <a:ext cx="2660904" cy="2556394"/>
          </a:xfrm>
          <a:prstGeom prst="rect">
            <a:avLst/>
          </a:prstGeom>
          <a:solidFill>
            <a:schemeClr val="bg1">
              <a:lumMod val="95000"/>
              <a:alpha val="8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160008" y="1552303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highlight>
                  <a:srgbClr val="C0C0C0"/>
                </a:highlight>
              </a:rPr>
              <a:t>AGV-003 (Pi #3)</a:t>
            </a:r>
            <a:endParaRPr lang="en-US" sz="1050" dirty="0">
              <a:highlight>
                <a:srgbClr val="C0C0C0"/>
              </a:highlight>
            </a:endParaRPr>
          </a:p>
        </p:txBody>
      </p:sp>
      <p:sp>
        <p:nvSpPr>
          <p:cNvPr id="46" name="Text 41"/>
          <p:cNvSpPr/>
          <p:nvPr/>
        </p:nvSpPr>
        <p:spPr>
          <a:xfrm>
            <a:off x="6196584" y="194549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Speed: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7202424" y="194549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46 km/h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6196584" y="2238103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Position: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7202424" y="223810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X12 Y7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196584" y="253071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Battery: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7202424" y="253071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74%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6196584" y="2823319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Task: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7202424" y="2823319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ACTIVE</a:t>
            </a:r>
            <a:endParaRPr lang="en-US" sz="1050" dirty="0"/>
          </a:p>
        </p:txBody>
      </p:sp>
      <p:sp>
        <p:nvSpPr>
          <p:cNvPr id="54" name="Text 49"/>
          <p:cNvSpPr/>
          <p:nvPr/>
        </p:nvSpPr>
        <p:spPr>
          <a:xfrm>
            <a:off x="6196584" y="3115927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Net ID: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7202424" y="3115927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N003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6196584" y="340853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Protocol:</a:t>
            </a:r>
            <a:endParaRPr lang="en-US" sz="1050" dirty="0"/>
          </a:p>
        </p:txBody>
      </p:sp>
      <p:sp>
        <p:nvSpPr>
          <p:cNvPr id="57" name="Text 52"/>
          <p:cNvSpPr/>
          <p:nvPr/>
        </p:nvSpPr>
        <p:spPr>
          <a:xfrm>
            <a:off x="7202424" y="340853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DDS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542109" y="397089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VEHICLE KPI BROADCAST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55473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2" name="Text 57"/>
          <p:cNvSpPr/>
          <p:nvPr/>
        </p:nvSpPr>
        <p:spPr>
          <a:xfrm>
            <a:off x="55473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speed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156057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59"/>
          <p:cNvSpPr/>
          <p:nvPr/>
        </p:nvSpPr>
        <p:spPr>
          <a:xfrm>
            <a:off x="156057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position</a:t>
            </a:r>
            <a:endParaRPr lang="en-US" sz="1050" dirty="0"/>
          </a:p>
        </p:txBody>
      </p:sp>
      <p:sp>
        <p:nvSpPr>
          <p:cNvPr id="65" name="Shape 60"/>
          <p:cNvSpPr/>
          <p:nvPr/>
        </p:nvSpPr>
        <p:spPr>
          <a:xfrm>
            <a:off x="256641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1"/>
          <p:cNvSpPr/>
          <p:nvPr/>
        </p:nvSpPr>
        <p:spPr>
          <a:xfrm>
            <a:off x="256641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battery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357225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3"/>
          <p:cNvSpPr/>
          <p:nvPr/>
        </p:nvSpPr>
        <p:spPr>
          <a:xfrm>
            <a:off x="357225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task_status</a:t>
            </a:r>
            <a:endParaRPr lang="en-US" sz="1050" dirty="0"/>
          </a:p>
        </p:txBody>
      </p:sp>
      <p:sp>
        <p:nvSpPr>
          <p:cNvPr id="69" name="Shape 64"/>
          <p:cNvSpPr/>
          <p:nvPr/>
        </p:nvSpPr>
        <p:spPr>
          <a:xfrm>
            <a:off x="457809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5"/>
          <p:cNvSpPr/>
          <p:nvPr/>
        </p:nvSpPr>
        <p:spPr>
          <a:xfrm>
            <a:off x="457809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timestamp</a:t>
            </a:r>
            <a:endParaRPr lang="en-US" sz="1050" dirty="0"/>
          </a:p>
        </p:txBody>
      </p:sp>
      <p:sp>
        <p:nvSpPr>
          <p:cNvPr id="71" name="Shape 66"/>
          <p:cNvSpPr/>
          <p:nvPr/>
        </p:nvSpPr>
        <p:spPr>
          <a:xfrm>
            <a:off x="558393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2" name="Text 67"/>
          <p:cNvSpPr/>
          <p:nvPr/>
        </p:nvSpPr>
        <p:spPr>
          <a:xfrm>
            <a:off x="558393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network_id</a:t>
            </a:r>
            <a:endParaRPr lang="en-US" sz="1050" dirty="0"/>
          </a:p>
        </p:txBody>
      </p:sp>
      <p:sp>
        <p:nvSpPr>
          <p:cNvPr id="73" name="Shape 68"/>
          <p:cNvSpPr/>
          <p:nvPr/>
        </p:nvSpPr>
        <p:spPr>
          <a:xfrm>
            <a:off x="658977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69"/>
          <p:cNvSpPr/>
          <p:nvPr/>
        </p:nvSpPr>
        <p:spPr>
          <a:xfrm>
            <a:off x="658977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packet_seq</a:t>
            </a:r>
            <a:endParaRPr lang="en-US" sz="1050" dirty="0"/>
          </a:p>
        </p:txBody>
      </p:sp>
      <p:sp>
        <p:nvSpPr>
          <p:cNvPr id="75" name="Shape 70"/>
          <p:cNvSpPr/>
          <p:nvPr/>
        </p:nvSpPr>
        <p:spPr>
          <a:xfrm>
            <a:off x="7595616" y="4249783"/>
            <a:ext cx="914400" cy="384048"/>
          </a:xfrm>
          <a:prstGeom prst="rect">
            <a:avLst/>
          </a:prstGeom>
          <a:solidFill>
            <a:srgbClr val="EBF5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6" name="Text 71"/>
          <p:cNvSpPr/>
          <p:nvPr/>
        </p:nvSpPr>
        <p:spPr>
          <a:xfrm>
            <a:off x="7595616" y="4249783"/>
            <a:ext cx="914400" cy="384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checksum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U_Header_Bar"/>
          <p:cNvSpPr>
            <a:spLocks noGrp="1"/>
          </p:cNvSpPr>
          <p:nvPr/>
        </p:nvSpPr>
        <p:spPr>
          <a:xfrm>
            <a:off x="0" y="0"/>
            <a:ext cx="9144000" cy="580000"/>
          </a:xfrm>
          <a:prstGeom prst="rect">
            <a:avLst/>
          </a:prstGeom>
          <a:solidFill>
            <a:srgbClr val="015F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8393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 &amp; Future Directions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76795" y="75736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academic and industrial value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476795" y="1246016"/>
            <a:ext cx="5120640" cy="256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 KEY RESEARCH CONTRIBUTIONS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3955" y="1593488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Novel unified cybersecurity middleware framework for OCC–AMR/AGV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3955" y="2032400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First comparative security evaluation of MQTT, OPC UA, DDS, and VDA 5050 in an OCC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3955" y="2471312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KPI-based threat detection linking communication metrics to security decisions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3955" y="2910224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8-scenario attack simulation testbed on resource-constrained Raspberry Pi hardware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3955" y="3349136"/>
            <a:ext cx="49377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Real-time security dashboard with anomaly visualization for operational control centers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08915" y="1246016"/>
            <a:ext cx="2560320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  PUBLICATION POTENTIAL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08915" y="15294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· IEEE Industrial Informatics
· IEEE Transactions on Ind. Cyber-Physical Systems
· ETFA / ISORC Conference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08915" y="2617616"/>
            <a:ext cx="2560320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 FUTURE DIRECTIONS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08915" y="289193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→ ML-based zero-day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08915" y="312968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→ 5G &amp; TSN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08915" y="336742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→ Hardware security modules (HSM)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08915" y="360516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→ Digital twin cyber simulation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7923" y="3996220"/>
            <a:ext cx="8467344" cy="530352"/>
          </a:xfrm>
          <a:prstGeom prst="rect">
            <a:avLst/>
          </a:prstGeom>
          <a:solidFill>
            <a:srgbClr val="445577">
              <a:alpha val="8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76795" y="410808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  KEYWORDS: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2655" y="4108088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Cybersecurity Middleware  ·  OCC Integration  ·  MQTT  ·  OPC UA  ·  DDS Security  ·  VDA 5050  ·  AMR/AGV  ·  Industry 4.0  ·  Cyber-Physical Systems  ·  KPI Analysis  ·  Threat Detection  ·  Raspberry Pi Testbed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1390</Words>
  <Application>Microsoft Macintosh PowerPoint</Application>
  <PresentationFormat>On-screen Show (16:9)</PresentationFormat>
  <Paragraphs>393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Cybersecurity-Aware Communication Framework for OCC–Autonomous Vehicle Integration</dc:title>
  <dc:subject>PptxGenJS Presentation</dc:subject>
  <dc:creator>Research Intern</dc:creator>
  <cp:lastModifiedBy>Akhilesh Geetha Sridhar</cp:lastModifiedBy>
  <cp:revision>2</cp:revision>
  <dcterms:created xsi:type="dcterms:W3CDTF">2026-05-17T22:22:21Z</dcterms:created>
  <dcterms:modified xsi:type="dcterms:W3CDTF">2026-05-18T00:32:22Z</dcterms:modified>
</cp:coreProperties>
</file>